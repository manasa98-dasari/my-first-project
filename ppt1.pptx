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6" r:id="rId3"/>
    <p:sldId id="258" r:id="rId4"/>
    <p:sldId id="259" r:id="rId5"/>
    <p:sldId id="262" r:id="rId6"/>
    <p:sldId id="264" r:id="rId7"/>
    <p:sldId id="265" r:id="rId8"/>
    <p:sldId id="266" r:id="rId9"/>
    <p:sldId id="267" r:id="rId10"/>
    <p:sldId id="269" r:id="rId11"/>
    <p:sldId id="271" r:id="rId12"/>
    <p:sldId id="272" r:id="rId13"/>
    <p:sldId id="275"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2" d="100"/>
          <a:sy n="82" d="100"/>
        </p:scale>
        <p:origin x="-1474" y="-91"/>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5B33229-2561-4C7F-89D3-F162C2F1332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311C6-76DF-40AB-BF23-7913B6A46E1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5B33229-2561-4C7F-89D3-F162C2F1332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311C6-76DF-40AB-BF23-7913B6A46E1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A5B33229-2561-4C7F-89D3-F162C2F1332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311C6-76DF-40AB-BF23-7913B6A46E1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A5B33229-2561-4C7F-89D3-F162C2F1332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F311C6-76DF-40AB-BF23-7913B6A46E1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A5B33229-2561-4C7F-89D3-F162C2F1332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F311C6-76DF-40AB-BF23-7913B6A46E1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5B33229-2561-4C7F-89D3-F162C2F1332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F311C6-76DF-40AB-BF23-7913B6A46E1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B33229-2561-4C7F-89D3-F162C2F1332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F311C6-76DF-40AB-BF23-7913B6A46E1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A5B33229-2561-4C7F-89D3-F162C2F1332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F311C6-76DF-40AB-BF23-7913B6A46E1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A5B33229-2561-4C7F-89D3-F162C2F1332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F311C6-76DF-40AB-BF23-7913B6A46E1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5B33229-2561-4C7F-89D3-F162C2F1332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311C6-76DF-40AB-BF23-7913B6A46E1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5B33229-2561-4C7F-89D3-F162C2F1332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311C6-76DF-40AB-BF23-7913B6A46E11}"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5B33229-2561-4C7F-89D3-F162C2F1332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311C6-76DF-40AB-BF23-7913B6A46E1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B33229-2561-4C7F-89D3-F162C2F13320}"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F311C6-76DF-40AB-BF23-7913B6A46E1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Title 1"/>
          <p:cNvSpPr>
            <a:spLocks noGrp="1"/>
          </p:cNvSpPr>
          <p:nvPr/>
        </p:nvSpPr>
        <p:spPr>
          <a:xfrm>
            <a:off x="3446780" y="5391785"/>
            <a:ext cx="3624580" cy="996950"/>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000" b="1" dirty="0">
                <a:gradFill>
                  <a:gsLst>
                    <a:gs pos="0">
                      <a:srgbClr val="14CD68"/>
                    </a:gs>
                    <a:gs pos="100000">
                      <a:srgbClr val="035C7D"/>
                    </a:gs>
                  </a:gsLst>
                  <a:lin scaled="0"/>
                </a:gradFill>
                <a:effectLst/>
                <a:latin typeface="Calibri" panose="020F0502020204030204" pitchFamily="34" charset="0"/>
                <a:ea typeface="Calibri" panose="020F0502020204030204" pitchFamily="34" charset="0"/>
                <a:cs typeface="Times New Roman" panose="02020603050405020304" pitchFamily="18" charset="0"/>
              </a:rPr>
              <a:t>A COMPREHENSIVE DATA ANALYTICS STUDY OF USED CAR PRICES IN INDIA </a:t>
            </a:r>
            <a:endParaRPr lang="en-US" sz="2000" b="1" dirty="0">
              <a:gradFill>
                <a:gsLst>
                  <a:gs pos="0">
                    <a:srgbClr val="14CD68"/>
                  </a:gs>
                  <a:gs pos="100000">
                    <a:srgbClr val="035C7D"/>
                  </a:gs>
                </a:gsLst>
                <a:lin scaled="0"/>
              </a:gra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Subtitle 2"/>
          <p:cNvSpPr>
            <a:spLocks noGrp="1"/>
          </p:cNvSpPr>
          <p:nvPr/>
        </p:nvSpPr>
        <p:spPr>
          <a:xfrm>
            <a:off x="3251200" y="3745865"/>
            <a:ext cx="3170555" cy="1343025"/>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600" b="1" dirty="0">
                <a:gradFill>
                  <a:gsLst>
                    <a:gs pos="0">
                      <a:srgbClr val="FE4444"/>
                    </a:gs>
                    <a:gs pos="100000">
                      <a:srgbClr val="832B2B"/>
                    </a:gs>
                  </a:gsLst>
                  <a:lin scaled="0"/>
                </a:gradFill>
              </a:rPr>
              <a:t>USED CAR PRICE ANALYSIS</a:t>
            </a:r>
            <a:endParaRPr lang="en-US" sz="3600" b="1" dirty="0">
              <a:gradFill>
                <a:gsLst>
                  <a:gs pos="0">
                    <a:srgbClr val="FE4444"/>
                  </a:gs>
                  <a:gs pos="100000">
                    <a:srgbClr val="832B2B"/>
                  </a:gs>
                </a:gsLst>
                <a:lin scaled="0"/>
              </a:gradFill>
            </a:endParaRPr>
          </a:p>
        </p:txBody>
      </p:sp>
      <p:sp>
        <p:nvSpPr>
          <p:cNvPr id="37" name="Oval 36"/>
          <p:cNvSpPr>
            <a:spLocks noGrp="1" noRot="1" noChangeAspect="1" noMove="1" noResize="1" noEditPoints="1" noAdjustHandles="1" noChangeArrowheads="1" noChangeShapeType="1" noTextEdit="1"/>
          </p:cNvSpPr>
          <p:nvPr/>
        </p:nvSpPr>
        <p:spPr>
          <a:xfrm>
            <a:off x="4652010" y="1370330"/>
            <a:ext cx="1569085" cy="2326640"/>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p:cNvSpPr>
            <a:spLocks noGrp="1" noRot="1" noChangeAspect="1" noMove="1" noResize="1" noEditPoints="1" noAdjustHandles="1" noChangeArrowheads="1" noChangeShapeType="1" noTextEdit="1"/>
          </p:cNvSpPr>
          <p:nvPr/>
        </p:nvSpPr>
        <p:spPr>
          <a:xfrm>
            <a:off x="3636010" y="368300"/>
            <a:ext cx="2212340" cy="305879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3" name="Picture 12"/>
          <p:cNvPicPr>
            <a:picLocks noChangeAspect="1"/>
          </p:cNvPicPr>
          <p:nvPr/>
        </p:nvPicPr>
        <p:blipFill rotWithShape="1">
          <a:blip r:embed="rId1" cstate="print">
            <a:extLst>
              <a:ext uri="{28A0092B-C50C-407E-A947-70E740481C1C}">
                <a14:useLocalDpi xmlns:a14="http://schemas.microsoft.com/office/drawing/2010/main" val="0"/>
              </a:ext>
            </a:extLst>
          </a:blip>
          <a:srcRect l="19906" r="16095"/>
          <a:stretch>
            <a:fillRect/>
          </a:stretch>
        </p:blipFill>
        <p:spPr>
          <a:xfrm>
            <a:off x="3996055" y="729615"/>
            <a:ext cx="1565910" cy="2141855"/>
          </a:xfrm>
          <a:prstGeom prst="rect">
            <a:avLst/>
          </a:prstGeom>
        </p:spPr>
      </p:pic>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59880" y="1370330"/>
            <a:ext cx="1948815" cy="156718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935" y="3523615"/>
            <a:ext cx="2453005" cy="2104390"/>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548640"/>
            <a:ext cx="3108960" cy="24752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92696"/>
            <a:ext cx="8229600" cy="504056"/>
          </a:xfrm>
        </p:spPr>
        <p:txBody>
          <a:bodyPr>
            <a:noAutofit/>
          </a:bodyPr>
          <a:lstStyle/>
          <a:p>
            <a:r>
              <a:rPr lang="en-US" dirty="0"/>
              <a:t>INTRODUCTION</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pPr>
              <a:lnSpc>
                <a:spcPct val="120000"/>
              </a:lnSpc>
            </a:pPr>
            <a:r>
              <a:rPr lang="en-US" sz="3100" dirty="0"/>
              <a:t>The used car market is a significant sector in the automotive industry, with millions of transactions taking place every year. With the rise of online marketplaces and digital platforms, the used car market has become more accessible and </a:t>
            </a:r>
            <a:r>
              <a:rPr lang="en-US" sz="3100" dirty="0" smtClean="0"/>
              <a:t>transparent.</a:t>
            </a:r>
            <a:endParaRPr lang="en-US" sz="3100" dirty="0"/>
          </a:p>
          <a:p>
            <a:pPr>
              <a:lnSpc>
                <a:spcPct val="120000"/>
              </a:lnSpc>
            </a:pPr>
            <a:r>
              <a:rPr lang="en-US" sz="3100" dirty="0"/>
              <a:t>The goal of this project is to analyze the used car market and identify the factors that influence car prices. By analyzing the relationships between various factors, such as car brands, models, years, conditions, and </a:t>
            </a:r>
            <a:r>
              <a:rPr lang="en-US" sz="3100" dirty="0" smtClean="0"/>
              <a:t>locations.</a:t>
            </a:r>
            <a:endParaRPr lang="en-US" sz="3100" dirty="0"/>
          </a:p>
          <a:p>
            <a:pPr>
              <a:lnSpc>
                <a:spcPct val="120000"/>
              </a:lnSpc>
            </a:pPr>
            <a:r>
              <a:rPr lang="en-US" sz="3100" dirty="0" smtClean="0"/>
              <a:t>This </a:t>
            </a:r>
            <a:r>
              <a:rPr lang="en-US" sz="3100" dirty="0"/>
              <a:t>project aims to provide insights into the used car market, helping buyers and sellers make informed decisions and identify good quality cars at affordable prices.</a:t>
            </a:r>
            <a:endParaRPr lang="en-US" sz="3100" dirty="0"/>
          </a:p>
          <a:p>
            <a:pPr>
              <a:buNone/>
            </a:pPr>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1196752"/>
            <a:ext cx="7560840" cy="4154984"/>
          </a:xfrm>
          <a:prstGeom prst="rect">
            <a:avLst/>
          </a:prstGeom>
        </p:spPr>
        <p:txBody>
          <a:bodyPr wrap="square">
            <a:spAutoFit/>
          </a:bodyPr>
          <a:lstStyle/>
          <a:p>
            <a:pPr marL="285750" indent="-285750" algn="just">
              <a:buFont typeface="Arial" panose="020B0604020202020204" pitchFamily="34" charset="0"/>
              <a:buChar char="•"/>
            </a:pPr>
            <a:r>
              <a:rPr lang="en-US" sz="2400" dirty="0" smtClean="0">
                <a:cs typeface="Segoe UI" panose="020B0502040204020203" pitchFamily="34" charset="0"/>
              </a:rPr>
              <a:t>This study uses python which is high level, interpreted, easy to use programming language for web scraping. Web scraping is the process of extraction data from web pages.</a:t>
            </a:r>
            <a:endParaRPr lang="en-US" sz="2400" dirty="0" smtClean="0">
              <a:cs typeface="Segoe UI" panose="020B0502040204020203" pitchFamily="34" charset="0"/>
            </a:endParaRPr>
          </a:p>
          <a:p>
            <a:pPr marL="285750" indent="-285750" algn="just"/>
            <a:endParaRPr lang="en-US" sz="2400" dirty="0" smtClean="0">
              <a:cs typeface="Segoe UI" panose="020B0502040204020203" pitchFamily="34" charset="0"/>
            </a:endParaRPr>
          </a:p>
          <a:p>
            <a:pPr marL="285750" indent="-285750" algn="just">
              <a:buFont typeface="Arial" panose="020B0604020202020204" pitchFamily="34" charset="0"/>
              <a:buChar char="•"/>
            </a:pPr>
            <a:r>
              <a:rPr lang="en-US" sz="2400" dirty="0" smtClean="0">
                <a:cs typeface="Segoe UI" panose="020B0502040204020203" pitchFamily="34" charset="0"/>
              </a:rPr>
              <a:t>Power BI is used to make visualizations on the data. Power BI is one of the data analytics tools which is used to create visualizations.</a:t>
            </a:r>
            <a:endParaRPr lang="en-US" sz="2400" dirty="0" smtClean="0">
              <a:cs typeface="Segoe UI" panose="020B0502040204020203" pitchFamily="34" charset="0"/>
            </a:endParaRPr>
          </a:p>
          <a:p>
            <a:pPr marL="285750" indent="-285750" algn="just"/>
            <a:endParaRPr lang="en-US" sz="2400" dirty="0" smtClean="0">
              <a:cs typeface="Segoe UI" panose="020B0502040204020203" pitchFamily="34" charset="0"/>
            </a:endParaRPr>
          </a:p>
          <a:p>
            <a:pPr marL="285750" indent="-285750" algn="just">
              <a:buFont typeface="Arial" panose="020B0604020202020204" pitchFamily="34" charset="0"/>
              <a:buChar char="•"/>
            </a:pPr>
            <a:r>
              <a:rPr lang="en-US" sz="2400" dirty="0" smtClean="0">
                <a:cs typeface="Segoe UI" panose="020B0502040204020203" pitchFamily="34" charset="0"/>
              </a:rPr>
              <a:t>The conclusions on the colleges are drawn using Power BI.</a:t>
            </a:r>
            <a:endParaRPr lang="en-US" sz="2400" dirty="0" smtClean="0">
              <a:cs typeface="Segoe UI" panose="020B05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964938"/>
            <a:ext cx="1549921" cy="1218411"/>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3" name="TextBox 12"/>
          <p:cNvSpPr txBox="1"/>
          <p:nvPr/>
        </p:nvSpPr>
        <p:spPr>
          <a:xfrm>
            <a:off x="230230" y="1158437"/>
            <a:ext cx="131743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dirty="0"/>
              <a:t>Website</a:t>
            </a:r>
            <a:endParaRPr lang="en-IN" sz="2400" dirty="0"/>
          </a:p>
        </p:txBody>
      </p:sp>
      <p:sp>
        <p:nvSpPr>
          <p:cNvPr id="4" name="Rectangle 3"/>
          <p:cNvSpPr/>
          <p:nvPr/>
        </p:nvSpPr>
        <p:spPr>
          <a:xfrm>
            <a:off x="3581844" y="959357"/>
            <a:ext cx="2115643" cy="1218413"/>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TextBox 14"/>
          <p:cNvSpPr txBox="1"/>
          <p:nvPr/>
        </p:nvSpPr>
        <p:spPr>
          <a:xfrm>
            <a:off x="3566565" y="1054808"/>
            <a:ext cx="2177640" cy="120032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dirty="0">
                <a:effectLst/>
                <a:latin typeface="Calibri" panose="020F0502020204030204" pitchFamily="34" charset="0"/>
                <a:ea typeface="Calibri" panose="020F0502020204030204" pitchFamily="34" charset="0"/>
                <a:cs typeface="Times New Roman" panose="02020603050405020304" pitchFamily="18" charset="0"/>
              </a:rPr>
              <a:t>Scrap the data using Web Scraping</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6966663" y="922666"/>
            <a:ext cx="2177640" cy="1218413"/>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TextBox 16"/>
          <p:cNvSpPr txBox="1"/>
          <p:nvPr/>
        </p:nvSpPr>
        <p:spPr>
          <a:xfrm>
            <a:off x="7279005" y="974090"/>
            <a:ext cx="1524000" cy="119888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dirty="0">
                <a:effectLst/>
                <a:latin typeface="Calibri" panose="020F0502020204030204" pitchFamily="34" charset="0"/>
                <a:ea typeface="Calibri" panose="020F0502020204030204" pitchFamily="34" charset="0"/>
                <a:cs typeface="Times New Roman" panose="02020603050405020304" pitchFamily="18" charset="0"/>
              </a:rPr>
              <a:t>Convert the data to CSV file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6012180" y="2927985"/>
            <a:ext cx="3163570" cy="1218565"/>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9" name="TextBox 18"/>
          <p:cNvSpPr txBox="1"/>
          <p:nvPr/>
        </p:nvSpPr>
        <p:spPr>
          <a:xfrm>
            <a:off x="6093460" y="2980690"/>
            <a:ext cx="3231515" cy="119888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dirty="0">
                <a:effectLst/>
                <a:latin typeface="Calibri" panose="020F0502020204030204" pitchFamily="34" charset="0"/>
                <a:ea typeface="Calibri" panose="020F0502020204030204" pitchFamily="34" charset="0"/>
                <a:cs typeface="Times New Roman" panose="02020603050405020304" pitchFamily="18" charset="0"/>
              </a:rPr>
              <a:t>Extract, Transform and Load the csv file into visualization tool</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p:cNvSpPr/>
          <p:nvPr/>
        </p:nvSpPr>
        <p:spPr>
          <a:xfrm>
            <a:off x="715951" y="2933021"/>
            <a:ext cx="2937102" cy="1218413"/>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11" name="TextBox 20"/>
          <p:cNvSpPr txBox="1"/>
          <p:nvPr/>
        </p:nvSpPr>
        <p:spPr>
          <a:xfrm>
            <a:off x="753224" y="3017310"/>
            <a:ext cx="2673617" cy="120032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dirty="0">
                <a:effectLst/>
                <a:latin typeface="Calibri" panose="020F0502020204030204" pitchFamily="34" charset="0"/>
                <a:ea typeface="Calibri" panose="020F0502020204030204" pitchFamily="34" charset="0"/>
                <a:cs typeface="Times New Roman" panose="02020603050405020304" pitchFamily="18" charset="0"/>
              </a:rPr>
              <a:t>Data visualization ( Add visualizations using the data)</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Rectangle 11"/>
          <p:cNvSpPr/>
          <p:nvPr/>
        </p:nvSpPr>
        <p:spPr>
          <a:xfrm>
            <a:off x="715951" y="4901102"/>
            <a:ext cx="2937102" cy="1218413"/>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13" name="TextBox 22"/>
          <p:cNvSpPr txBox="1"/>
          <p:nvPr/>
        </p:nvSpPr>
        <p:spPr>
          <a:xfrm>
            <a:off x="780881" y="4990974"/>
            <a:ext cx="2673617" cy="120032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dirty="0">
                <a:effectLst/>
                <a:latin typeface="Calibri" panose="020F0502020204030204" pitchFamily="34" charset="0"/>
                <a:ea typeface="Calibri" panose="020F0502020204030204" pitchFamily="34" charset="0"/>
                <a:cs typeface="Times New Roman" panose="02020603050405020304" pitchFamily="18" charset="0"/>
              </a:rPr>
              <a:t>Construct Dashboards and Draw Conclusions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Rectangle 13"/>
          <p:cNvSpPr/>
          <p:nvPr/>
        </p:nvSpPr>
        <p:spPr>
          <a:xfrm>
            <a:off x="6842085" y="4901101"/>
            <a:ext cx="2131144" cy="1218413"/>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15" name="TextBox 24"/>
          <p:cNvSpPr txBox="1"/>
          <p:nvPr/>
        </p:nvSpPr>
        <p:spPr>
          <a:xfrm>
            <a:off x="7059099" y="5175636"/>
            <a:ext cx="1511174"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400" dirty="0"/>
              <a:t>End Process</a:t>
            </a:r>
            <a:endParaRPr lang="en-IN" sz="2400" dirty="0"/>
          </a:p>
        </p:txBody>
      </p:sp>
      <p:cxnSp>
        <p:nvCxnSpPr>
          <p:cNvPr id="16" name="Straight Arrow Connector 15"/>
          <p:cNvCxnSpPr>
            <a:stCxn id="2" idx="3"/>
          </p:cNvCxnSpPr>
          <p:nvPr/>
        </p:nvCxnSpPr>
        <p:spPr>
          <a:xfrm flipV="1">
            <a:off x="1549920" y="1556364"/>
            <a:ext cx="2014220" cy="177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6" idx="1"/>
          </p:cNvCxnSpPr>
          <p:nvPr/>
        </p:nvCxnSpPr>
        <p:spPr>
          <a:xfrm flipV="1">
            <a:off x="5724444" y="1532011"/>
            <a:ext cx="1242060" cy="241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2"/>
          </p:cNvCxnSpPr>
          <p:nvPr/>
        </p:nvCxnSpPr>
        <p:spPr>
          <a:xfrm flipH="1">
            <a:off x="8028178" y="2141079"/>
            <a:ext cx="27305" cy="7835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1"/>
            <a:endCxn id="10" idx="3"/>
          </p:cNvCxnSpPr>
          <p:nvPr/>
        </p:nvCxnSpPr>
        <p:spPr>
          <a:xfrm flipH="1">
            <a:off x="3652498" y="3537783"/>
            <a:ext cx="2359660" cy="44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2" idx="3"/>
            <a:endCxn id="14" idx="1"/>
          </p:cNvCxnSpPr>
          <p:nvPr/>
        </p:nvCxnSpPr>
        <p:spPr>
          <a:xfrm flipV="1">
            <a:off x="3653053" y="5510308"/>
            <a:ext cx="3189032" cy="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10" idx="2"/>
            <a:endCxn id="12" idx="0"/>
          </p:cNvCxnSpPr>
          <p:nvPr/>
        </p:nvCxnSpPr>
        <p:spPr>
          <a:xfrm>
            <a:off x="2184502" y="4151434"/>
            <a:ext cx="0" cy="74966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Web Scraping</a:t>
            </a:r>
            <a:br>
              <a:rPr lang="en-IN" dirty="0" smtClean="0"/>
            </a:br>
            <a:endParaRPr lang="en-US" dirty="0"/>
          </a:p>
        </p:txBody>
      </p:sp>
      <p:sp>
        <p:nvSpPr>
          <p:cNvPr id="3" name="Content Placeholder 2"/>
          <p:cNvSpPr>
            <a:spLocks noGrp="1"/>
          </p:cNvSpPr>
          <p:nvPr>
            <p:ph idx="1"/>
          </p:nvPr>
        </p:nvSpPr>
        <p:spPr/>
        <p:txBody>
          <a:bodyPr>
            <a:normAutofit fontScale="62500" lnSpcReduction="20000"/>
          </a:bodyPr>
          <a:lstStyle/>
          <a:p>
            <a:pPr marL="285750" indent="-285750" algn="just">
              <a:lnSpc>
                <a:spcPct val="150000"/>
              </a:lnSpc>
            </a:pPr>
            <a:r>
              <a:rPr lang="en-IN" dirty="0" smtClean="0"/>
              <a:t>Choose the website (career360) to scrap and extract the data from the website using web scraping with python using Beautiful Soup library.</a:t>
            </a:r>
            <a:endParaRPr lang="en-IN" dirty="0" smtClean="0"/>
          </a:p>
          <a:p>
            <a:pPr marL="285750" indent="-285750" algn="just">
              <a:lnSpc>
                <a:spcPct val="150000"/>
              </a:lnSpc>
            </a:pPr>
            <a:r>
              <a:rPr lang="en-IN" dirty="0" smtClean="0"/>
              <a:t>Get the useful data from the website and convert the data into required form.</a:t>
            </a:r>
            <a:endParaRPr lang="en-IN" dirty="0" smtClean="0"/>
          </a:p>
          <a:p>
            <a:pPr marL="285750" indent="-285750" algn="just">
              <a:lnSpc>
                <a:spcPct val="150000"/>
              </a:lnSpc>
            </a:pPr>
            <a:r>
              <a:rPr lang="en-IN" dirty="0" smtClean="0"/>
              <a:t>Read all the extracted data into the model using pandas.</a:t>
            </a:r>
            <a:endParaRPr lang="en-IN" dirty="0" smtClean="0"/>
          </a:p>
          <a:p>
            <a:pPr marL="285750" indent="-285750" algn="just">
              <a:lnSpc>
                <a:spcPct val="150000"/>
              </a:lnSpc>
            </a:pPr>
            <a:r>
              <a:rPr lang="en-IN" dirty="0" smtClean="0"/>
              <a:t>Pandas is used to read files in different formats and creates data frames and series. </a:t>
            </a:r>
            <a:r>
              <a:rPr lang="en-US" dirty="0" smtClean="0">
                <a:latin typeface="Calibri" panose="020F0502020204030204" pitchFamily="34" charset="0"/>
                <a:ea typeface="Calibri" panose="020F0502020204030204" pitchFamily="34" charset="0"/>
              </a:rPr>
              <a:t>It is used for data manipulation and data analysis.</a:t>
            </a:r>
            <a:endParaRPr lang="en-US" dirty="0" smtClean="0">
              <a:latin typeface="Calibri" panose="020F0502020204030204" pitchFamily="34" charset="0"/>
              <a:ea typeface="Calibri" panose="020F0502020204030204" pitchFamily="34" charset="0"/>
            </a:endParaRPr>
          </a:p>
          <a:p>
            <a:pPr marL="285750" indent="-285750" algn="just">
              <a:lnSpc>
                <a:spcPct val="150000"/>
              </a:lnSpc>
            </a:pPr>
            <a:r>
              <a:rPr lang="en-US" dirty="0" smtClean="0">
                <a:latin typeface="Calibri" panose="020F0502020204030204" pitchFamily="34" charset="0"/>
                <a:ea typeface="Calibri" panose="020F0502020204030204" pitchFamily="34" charset="0"/>
              </a:rPr>
              <a:t>Load the data into a </a:t>
            </a:r>
            <a:r>
              <a:rPr lang="en-US" dirty="0" err="1" smtClean="0">
                <a:latin typeface="Calibri" panose="020F0502020204030204" pitchFamily="34" charset="0"/>
                <a:ea typeface="Calibri" panose="020F0502020204030204" pitchFamily="34" charset="0"/>
              </a:rPr>
              <a:t>csv</a:t>
            </a:r>
            <a:r>
              <a:rPr lang="en-US" dirty="0" smtClean="0">
                <a:latin typeface="Calibri" panose="020F0502020204030204" pitchFamily="34" charset="0"/>
                <a:ea typeface="Calibri" panose="020F0502020204030204" pitchFamily="34" charset="0"/>
              </a:rPr>
              <a:t> file from model to </a:t>
            </a:r>
            <a:r>
              <a:rPr lang="en-US" dirty="0" err="1" smtClean="0">
                <a:latin typeface="Calibri" panose="020F0502020204030204" pitchFamily="34" charset="0"/>
                <a:ea typeface="Calibri" panose="020F0502020204030204" pitchFamily="34" charset="0"/>
              </a:rPr>
              <a:t>csv</a:t>
            </a:r>
            <a:r>
              <a:rPr lang="en-US" dirty="0" smtClean="0">
                <a:latin typeface="Calibri" panose="020F0502020204030204" pitchFamily="34" charset="0"/>
                <a:ea typeface="Calibri" panose="020F0502020204030204" pitchFamily="34" charset="0"/>
              </a:rPr>
              <a:t> file and name the </a:t>
            </a:r>
            <a:r>
              <a:rPr lang="en-US" dirty="0" err="1" smtClean="0">
                <a:latin typeface="Calibri" panose="020F0502020204030204" pitchFamily="34" charset="0"/>
                <a:ea typeface="Calibri" panose="020F0502020204030204" pitchFamily="34" charset="0"/>
              </a:rPr>
              <a:t>csv</a:t>
            </a:r>
            <a:r>
              <a:rPr lang="en-US" dirty="0" smtClean="0">
                <a:latin typeface="Calibri" panose="020F0502020204030204" pitchFamily="34" charset="0"/>
                <a:ea typeface="Calibri" panose="020F0502020204030204" pitchFamily="34" charset="0"/>
              </a:rPr>
              <a:t> file as Engineering colleges.</a:t>
            </a:r>
            <a:endParaRPr lang="en-IN" dirty="0" smtClean="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Extract, Transform and Load Data(ETL)</a:t>
            </a:r>
            <a:br>
              <a:rPr lang="en-IN" dirty="0" smtClean="0"/>
            </a:br>
            <a:endParaRPr lang="en-US" dirty="0"/>
          </a:p>
        </p:txBody>
      </p:sp>
      <p:sp>
        <p:nvSpPr>
          <p:cNvPr id="3" name="Content Placeholder 2"/>
          <p:cNvSpPr>
            <a:spLocks noGrp="1"/>
          </p:cNvSpPr>
          <p:nvPr>
            <p:ph idx="1"/>
          </p:nvPr>
        </p:nvSpPr>
        <p:spPr/>
        <p:txBody>
          <a:bodyPr>
            <a:normAutofit fontScale="70000" lnSpcReduction="20000"/>
          </a:bodyPr>
          <a:lstStyle/>
          <a:p>
            <a:pPr marL="285750" indent="-285750" algn="just">
              <a:lnSpc>
                <a:spcPct val="150000"/>
              </a:lnSpc>
            </a:pPr>
            <a:r>
              <a:rPr lang="en-IN" dirty="0" smtClean="0"/>
              <a:t>Extract the Engineering Colleges </a:t>
            </a:r>
            <a:r>
              <a:rPr lang="en-IN" dirty="0" err="1" smtClean="0"/>
              <a:t>csv</a:t>
            </a:r>
            <a:r>
              <a:rPr lang="en-IN" dirty="0" smtClean="0"/>
              <a:t> file which is created using web scraping into Power BI Desktop.</a:t>
            </a:r>
            <a:endParaRPr lang="en-IN" dirty="0" smtClean="0"/>
          </a:p>
          <a:p>
            <a:pPr marL="285750" indent="-285750" algn="just">
              <a:lnSpc>
                <a:spcPct val="150000"/>
              </a:lnSpc>
            </a:pPr>
            <a:r>
              <a:rPr lang="en-IN" dirty="0" smtClean="0"/>
              <a:t>Data cleaning is important step in ETL process</a:t>
            </a:r>
            <a:endParaRPr lang="en-IN" dirty="0" smtClean="0"/>
          </a:p>
          <a:p>
            <a:pPr marL="285750" indent="-285750" algn="just">
              <a:lnSpc>
                <a:spcPct val="150000"/>
              </a:lnSpc>
            </a:pPr>
            <a:r>
              <a:rPr lang="en-IN" dirty="0" smtClean="0"/>
              <a:t>Transform the data in the power query editor by adding some columns and removing null values and convert the data into required form which can be used for data visualization</a:t>
            </a:r>
            <a:endParaRPr lang="en-IN" dirty="0" smtClean="0"/>
          </a:p>
          <a:p>
            <a:pPr marL="285750" indent="-285750" algn="just">
              <a:lnSpc>
                <a:spcPct val="150000"/>
              </a:lnSpc>
            </a:pPr>
            <a:r>
              <a:rPr lang="en-IN" dirty="0" smtClean="0"/>
              <a:t>After transforming the data load it into the Power BI Desktop and create visualizations on the data.</a:t>
            </a:r>
            <a:endParaRPr lang="en-IN" dirty="0" smtClean="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Data Visualization</a:t>
            </a:r>
            <a:br>
              <a:rPr lang="en-IN" dirty="0" smtClean="0"/>
            </a:br>
            <a:endParaRPr lang="en-US" dirty="0"/>
          </a:p>
        </p:txBody>
      </p:sp>
      <p:sp>
        <p:nvSpPr>
          <p:cNvPr id="3" name="Content Placeholder 2"/>
          <p:cNvSpPr>
            <a:spLocks noGrp="1"/>
          </p:cNvSpPr>
          <p:nvPr>
            <p:ph idx="1"/>
          </p:nvPr>
        </p:nvSpPr>
        <p:spPr/>
        <p:txBody>
          <a:bodyPr>
            <a:normAutofit fontScale="62500" lnSpcReduction="20000"/>
          </a:bodyPr>
          <a:lstStyle/>
          <a:p>
            <a:pPr marL="285750" indent="-285750" algn="just">
              <a:lnSpc>
                <a:spcPct val="150000"/>
              </a:lnSpc>
            </a:pPr>
            <a:r>
              <a:rPr lang="en-IN" dirty="0" smtClean="0"/>
              <a:t>Data Visualization is the graphical representation of the data. We can create different visualizations using data visualization tools like Power Bi.</a:t>
            </a:r>
            <a:endParaRPr lang="en-IN" dirty="0" smtClean="0"/>
          </a:p>
          <a:p>
            <a:pPr marL="285750" indent="-285750" algn="just">
              <a:lnSpc>
                <a:spcPct val="150000"/>
              </a:lnSpc>
            </a:pPr>
            <a:r>
              <a:rPr lang="en-IN" dirty="0" smtClean="0"/>
              <a:t>Data visualization is the important step in data analysis. Visualizing the data makes it easy for data analytics.</a:t>
            </a:r>
            <a:endParaRPr lang="en-IN" dirty="0" smtClean="0"/>
          </a:p>
          <a:p>
            <a:pPr marL="285750" indent="-285750" algn="just">
              <a:lnSpc>
                <a:spcPct val="150000"/>
              </a:lnSpc>
            </a:pPr>
            <a:r>
              <a:rPr lang="en-IN" dirty="0" smtClean="0"/>
              <a:t>After loading the data in to Power BI we can create visualizations using visualization options available in the Power BI. We can also add columns and measures to the data using formulas which are supported by Power BI.</a:t>
            </a:r>
            <a:endParaRPr lang="en-IN" dirty="0" smtClean="0"/>
          </a:p>
          <a:p>
            <a:pPr marL="285750" indent="-285750" algn="just">
              <a:lnSpc>
                <a:spcPct val="150000"/>
              </a:lnSpc>
            </a:pPr>
            <a:r>
              <a:rPr lang="en-IN" dirty="0" smtClean="0"/>
              <a:t>We can create dashboards in Power BI by creating multiple visualizations in a single page.</a:t>
            </a:r>
            <a:endParaRPr lang="en-IN"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mn-lt"/>
                <a:sym typeface="+mn-ea"/>
              </a:rPr>
              <a:t>Visualizations</a:t>
            </a:r>
            <a:endParaRPr lang="en-US"/>
          </a:p>
        </p:txBody>
      </p:sp>
      <p:pic>
        <p:nvPicPr>
          <p:cNvPr id="4" name="Content Placeholder 3" descr="Screenshot 2024-10-11 010242"/>
          <p:cNvPicPr>
            <a:picLocks noGrp="1" noChangeAspect="1"/>
          </p:cNvPicPr>
          <p:nvPr>
            <p:ph idx="1"/>
          </p:nvPr>
        </p:nvPicPr>
        <p:blipFill>
          <a:blip r:embed="rId1" cstate="print"/>
          <a:stretch>
            <a:fillRect/>
          </a:stretch>
        </p:blipFill>
        <p:spPr>
          <a:xfrm>
            <a:off x="457200" y="1677035"/>
            <a:ext cx="8229600" cy="43719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GB"/>
              <a:t>VISUALS</a:t>
            </a:r>
            <a:endParaRPr lang="en-IN" altLang="en-GB"/>
          </a:p>
        </p:txBody>
      </p:sp>
      <p:pic>
        <p:nvPicPr>
          <p:cNvPr id="4" name="Content Placeholder 3"/>
          <p:cNvPicPr>
            <a:picLocks noGrp="1" noChangeAspect="1"/>
          </p:cNvPicPr>
          <p:nvPr>
            <p:ph idx="1"/>
          </p:nvPr>
        </p:nvPicPr>
        <p:blipFill>
          <a:blip r:embed="rId1" cstate="print"/>
          <a:stretch>
            <a:fillRect/>
          </a:stretch>
        </p:blipFill>
        <p:spPr>
          <a:xfrm>
            <a:off x="548640" y="1600200"/>
            <a:ext cx="8046085" cy="4526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cstate="print"/>
          <a:stretch>
            <a:fillRect/>
          </a:stretch>
        </p:blipFill>
        <p:spPr>
          <a:xfrm>
            <a:off x="-2743200" y="-685800"/>
            <a:ext cx="14630400" cy="82613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cstate="print"/>
          <a:stretch>
            <a:fillRect/>
          </a:stretch>
        </p:blipFill>
        <p:spPr>
          <a:xfrm>
            <a:off x="-2743200" y="-685800"/>
            <a:ext cx="14630400" cy="8229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altLang="en-GB"/>
              <a:t>CONCLUSION</a:t>
            </a:r>
            <a:endParaRPr lang="en-IN" altLang="en-GB"/>
          </a:p>
        </p:txBody>
      </p:sp>
      <p:sp>
        <p:nvSpPr>
          <p:cNvPr id="5" name="Content Placeholder 4"/>
          <p:cNvSpPr>
            <a:spLocks noGrp="1"/>
          </p:cNvSpPr>
          <p:nvPr>
            <p:ph idx="1"/>
          </p:nvPr>
        </p:nvSpPr>
        <p:spPr/>
        <p:txBody>
          <a:bodyPr/>
          <a:lstStyle/>
          <a:p>
            <a:r>
              <a:rPr lang="en-GB" altLang="en-US" sz="2000"/>
              <a:t>The analysis of used car prices based on various car brands reveals significant insights into market trends and consumer preferences. By evaluating factors such as price, quality, and brand reputation, it becomes evident that certain brands consistently offer high-quality vehicles at more affordable price points. </a:t>
            </a:r>
            <a:endParaRPr lang="en-GB" altLang="en-US" sz="2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3259</Words>
  <Application>WPS Presentation</Application>
  <PresentationFormat>On-screen Show (4:3)</PresentationFormat>
  <Paragraphs>65</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Calibri</vt:lpstr>
      <vt:lpstr>Times New Roman</vt:lpstr>
      <vt:lpstr>Calibri</vt:lpstr>
      <vt:lpstr>Segoe UI</vt:lpstr>
      <vt:lpstr>Microsoft YaHei</vt:lpstr>
      <vt:lpstr>Arial Unicode MS</vt:lpstr>
      <vt:lpstr>Office Theme</vt:lpstr>
      <vt:lpstr>PowerPoint 演示文稿</vt:lpstr>
      <vt:lpstr>INTRODUCTION </vt:lpstr>
      <vt:lpstr>PowerPoint 演示文稿</vt:lpstr>
      <vt:lpstr>PowerPoint 演示文稿</vt:lpstr>
      <vt:lpstr>Web Scraping </vt:lpstr>
      <vt:lpstr>Extract, Transform and Load Data(ETL) </vt:lpstr>
      <vt:lpstr>Data Visualization </vt:lpstr>
      <vt:lpstr>Visualizations</vt:lpstr>
      <vt:lpstr>VISUALS</vt:lpstr>
      <vt:lpstr>PowerPoint 演示文稿</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dc:title>
  <dc:creator>MANASA DASARI</dc:creator>
  <cp:lastModifiedBy>Manasa Dasari</cp:lastModifiedBy>
  <cp:revision>71</cp:revision>
  <dcterms:created xsi:type="dcterms:W3CDTF">2024-10-08T10:04:00Z</dcterms:created>
  <dcterms:modified xsi:type="dcterms:W3CDTF">2025-12-04T09:48:58Z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0A6919117F28481FAFE067219D29B6A6_12</vt:lpwstr>
  </property>
  <property fmtid="{D5CDD505-2E9C-101B-9397-08002B2CF9AE}" pid="3" name="KSOProductBuildVer">
    <vt:lpwstr>1033-12.2.0.23155</vt:lpwstr>
  </property>
</Properties>
</file>